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227427"/>
            <a:ext cx="5827395"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Clinicians Unchained</a:t>
            </a:r>
            <a:endParaRPr lang="en-US" sz="4450" dirty="0"/>
          </a:p>
        </p:txBody>
      </p:sp>
      <p:sp>
        <p:nvSpPr>
          <p:cNvPr id="4" name="Text 1"/>
          <p:cNvSpPr/>
          <p:nvPr/>
        </p:nvSpPr>
        <p:spPr>
          <a:xfrm>
            <a:off x="793790" y="427636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An autonomous AI workflow engine that resolves prescription issues without clinician intervention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475303"/>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The Administrative Burden Crisis</a:t>
            </a:r>
            <a:endParaRPr lang="en-US" sz="4450" dirty="0"/>
          </a:p>
        </p:txBody>
      </p:sp>
      <p:sp>
        <p:nvSpPr>
          <p:cNvPr id="4" name="Text 1"/>
          <p:cNvSpPr/>
          <p:nvPr/>
        </p:nvSpPr>
        <p:spPr>
          <a:xfrm>
            <a:off x="793790" y="3233023"/>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Clinicians spend a significant portion of their day resolving administrative issues rather than providing patient care. One of the most time-consuming and frustrating tasks is handling unfilled prescriptions, which often require repeated phone calls to pharmacies and insurance providers.</a:t>
            </a:r>
            <a:endParaRPr lang="en-US" sz="1750" dirty="0"/>
          </a:p>
        </p:txBody>
      </p:sp>
      <p:sp>
        <p:nvSpPr>
          <p:cNvPr id="5" name="Text 2"/>
          <p:cNvSpPr/>
          <p:nvPr/>
        </p:nvSpPr>
        <p:spPr>
          <a:xfrm>
            <a:off x="793790" y="5302687"/>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These interruptions contribute directly to clinician burnout, delayed treatment protocols, and compromised patient outcomes. The current system forces highly trained medical professionals to act as administrative coordinators.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07927"/>
            <a:ext cx="8261390"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Current Workflow Pain Points</a:t>
            </a:r>
            <a:endParaRPr lang="en-US" sz="4450" dirty="0"/>
          </a:p>
        </p:txBody>
      </p:sp>
      <p:sp>
        <p:nvSpPr>
          <p:cNvPr id="3" name="Shape 1"/>
          <p:cNvSpPr/>
          <p:nvPr/>
        </p:nvSpPr>
        <p:spPr>
          <a:xfrm>
            <a:off x="793790" y="2670334"/>
            <a:ext cx="6407944" cy="2093714"/>
          </a:xfrm>
          <a:prstGeom prst="roundRect">
            <a:avLst>
              <a:gd name="adj" fmla="val 6988"/>
            </a:avLst>
          </a:prstGeom>
          <a:solidFill>
            <a:srgbClr val="FDFBF7"/>
          </a:solidFill>
          <a:ln w="30480">
            <a:solidFill>
              <a:srgbClr val="E6DED2"/>
            </a:solidFill>
            <a:prstDash val="solid"/>
          </a:ln>
          <a:effectLst>
            <a:outerShdw sx="100000" sy="100000" kx="0" ky="0" algn="bl" rotWithShape="0" blurRad="0" dist="20320" dir="2700000">
              <a:srgbClr val="e6ded2">
                <a:alpha val="100000"/>
              </a:srgbClr>
            </a:outerShdw>
          </a:effectLst>
        </p:spPr>
      </p:sp>
      <p:sp>
        <p:nvSpPr>
          <p:cNvPr id="4" name="Shape 2"/>
          <p:cNvSpPr/>
          <p:nvPr/>
        </p:nvSpPr>
        <p:spPr>
          <a:xfrm>
            <a:off x="763310" y="2670334"/>
            <a:ext cx="121920" cy="2093714"/>
          </a:xfrm>
          <a:prstGeom prst="roundRect">
            <a:avLst>
              <a:gd name="adj" fmla="val 78139"/>
            </a:avLst>
          </a:prstGeom>
          <a:solidFill>
            <a:srgbClr val="E6DED2"/>
          </a:solidFill>
          <a:ln/>
        </p:spPr>
      </p:sp>
      <p:sp>
        <p:nvSpPr>
          <p:cNvPr id="5" name="Text 3"/>
          <p:cNvSpPr/>
          <p:nvPr/>
        </p:nvSpPr>
        <p:spPr>
          <a:xfrm>
            <a:off x="1142524" y="2927628"/>
            <a:ext cx="3022997"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Excessive Phone Time</a:t>
            </a:r>
            <a:endParaRPr lang="en-US" sz="2200" dirty="0"/>
          </a:p>
        </p:txBody>
      </p:sp>
      <p:sp>
        <p:nvSpPr>
          <p:cNvPr id="6" name="Text 4"/>
          <p:cNvSpPr/>
          <p:nvPr/>
        </p:nvSpPr>
        <p:spPr>
          <a:xfrm>
            <a:off x="1142524" y="3418046"/>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Clinicians spend 30+ minutes per day navigating IVR systems and waiting on hold with insurers and pharmacies</a:t>
            </a:r>
            <a:endParaRPr lang="en-US" sz="1750" dirty="0"/>
          </a:p>
        </p:txBody>
      </p:sp>
      <p:sp>
        <p:nvSpPr>
          <p:cNvPr id="7" name="Shape 5"/>
          <p:cNvSpPr/>
          <p:nvPr/>
        </p:nvSpPr>
        <p:spPr>
          <a:xfrm>
            <a:off x="7428548" y="2670334"/>
            <a:ext cx="6408063" cy="2093714"/>
          </a:xfrm>
          <a:prstGeom prst="roundRect">
            <a:avLst>
              <a:gd name="adj" fmla="val 6988"/>
            </a:avLst>
          </a:prstGeom>
          <a:solidFill>
            <a:srgbClr val="FDFBF7"/>
          </a:solidFill>
          <a:ln w="30480">
            <a:solidFill>
              <a:srgbClr val="E6DED2"/>
            </a:solidFill>
            <a:prstDash val="solid"/>
          </a:ln>
          <a:effectLst>
            <a:outerShdw sx="100000" sy="100000" kx="0" ky="0" algn="bl" rotWithShape="0" blurRad="0" dist="20320" dir="2700000">
              <a:srgbClr val="e6ded2">
                <a:alpha val="100000"/>
              </a:srgbClr>
            </a:outerShdw>
          </a:effectLst>
        </p:spPr>
      </p:sp>
      <p:sp>
        <p:nvSpPr>
          <p:cNvPr id="8" name="Shape 6"/>
          <p:cNvSpPr/>
          <p:nvPr/>
        </p:nvSpPr>
        <p:spPr>
          <a:xfrm>
            <a:off x="7398067" y="2670334"/>
            <a:ext cx="121920" cy="2093714"/>
          </a:xfrm>
          <a:prstGeom prst="roundRect">
            <a:avLst>
              <a:gd name="adj" fmla="val 78139"/>
            </a:avLst>
          </a:prstGeom>
          <a:solidFill>
            <a:srgbClr val="E6DED2"/>
          </a:solidFill>
          <a:ln/>
        </p:spPr>
      </p:sp>
      <p:sp>
        <p:nvSpPr>
          <p:cNvPr id="9" name="Text 7"/>
          <p:cNvSpPr/>
          <p:nvPr/>
        </p:nvSpPr>
        <p:spPr>
          <a:xfrm>
            <a:off x="7777282" y="292762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Manual Follow-Up</a:t>
            </a:r>
            <a:endParaRPr lang="en-US" sz="2200" dirty="0"/>
          </a:p>
        </p:txBody>
      </p:sp>
      <p:sp>
        <p:nvSpPr>
          <p:cNvPr id="10" name="Text 8"/>
          <p:cNvSpPr/>
          <p:nvPr/>
        </p:nvSpPr>
        <p:spPr>
          <a:xfrm>
            <a:off x="7777282" y="3418046"/>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Multiple touchpoints required to track prescription status across fragmented systems</a:t>
            </a:r>
            <a:endParaRPr lang="en-US" sz="1750" dirty="0"/>
          </a:p>
        </p:txBody>
      </p:sp>
      <p:sp>
        <p:nvSpPr>
          <p:cNvPr id="11" name="Shape 9"/>
          <p:cNvSpPr/>
          <p:nvPr/>
        </p:nvSpPr>
        <p:spPr>
          <a:xfrm>
            <a:off x="793790" y="4990862"/>
            <a:ext cx="6407944" cy="1730812"/>
          </a:xfrm>
          <a:prstGeom prst="roundRect">
            <a:avLst>
              <a:gd name="adj" fmla="val 8453"/>
            </a:avLst>
          </a:prstGeom>
          <a:solidFill>
            <a:srgbClr val="FDFBF7"/>
          </a:solidFill>
          <a:ln w="30480">
            <a:solidFill>
              <a:srgbClr val="E6DED2"/>
            </a:solidFill>
            <a:prstDash val="solid"/>
          </a:ln>
          <a:effectLst>
            <a:outerShdw sx="100000" sy="100000" kx="0" ky="0" algn="bl" rotWithShape="0" blurRad="0" dist="20320" dir="2700000">
              <a:srgbClr val="e6ded2">
                <a:alpha val="100000"/>
              </a:srgbClr>
            </a:outerShdw>
          </a:effectLst>
        </p:spPr>
      </p:sp>
      <p:sp>
        <p:nvSpPr>
          <p:cNvPr id="12" name="Shape 10"/>
          <p:cNvSpPr/>
          <p:nvPr/>
        </p:nvSpPr>
        <p:spPr>
          <a:xfrm>
            <a:off x="763310" y="4990862"/>
            <a:ext cx="121920" cy="1730812"/>
          </a:xfrm>
          <a:prstGeom prst="roundRect">
            <a:avLst>
              <a:gd name="adj" fmla="val 78139"/>
            </a:avLst>
          </a:prstGeom>
          <a:solidFill>
            <a:srgbClr val="E6DED2"/>
          </a:solidFill>
          <a:ln/>
        </p:spPr>
      </p:sp>
      <p:sp>
        <p:nvSpPr>
          <p:cNvPr id="13" name="Text 11"/>
          <p:cNvSpPr/>
          <p:nvPr/>
        </p:nvSpPr>
        <p:spPr>
          <a:xfrm>
            <a:off x="1142524" y="524815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Medication Delays</a:t>
            </a:r>
            <a:endParaRPr lang="en-US" sz="2200" dirty="0"/>
          </a:p>
        </p:txBody>
      </p:sp>
      <p:sp>
        <p:nvSpPr>
          <p:cNvPr id="14" name="Text 12"/>
          <p:cNvSpPr/>
          <p:nvPr/>
        </p:nvSpPr>
        <p:spPr>
          <a:xfrm>
            <a:off x="1142524" y="5738574"/>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Patients wait days for essential medications due to authorization bottlenecks</a:t>
            </a:r>
            <a:endParaRPr lang="en-US" sz="1750" dirty="0"/>
          </a:p>
        </p:txBody>
      </p:sp>
      <p:sp>
        <p:nvSpPr>
          <p:cNvPr id="15" name="Shape 13"/>
          <p:cNvSpPr/>
          <p:nvPr/>
        </p:nvSpPr>
        <p:spPr>
          <a:xfrm>
            <a:off x="7428548" y="4990862"/>
            <a:ext cx="6408063" cy="1730812"/>
          </a:xfrm>
          <a:prstGeom prst="roundRect">
            <a:avLst>
              <a:gd name="adj" fmla="val 8453"/>
            </a:avLst>
          </a:prstGeom>
          <a:solidFill>
            <a:srgbClr val="FDFBF7"/>
          </a:solidFill>
          <a:ln w="30480">
            <a:solidFill>
              <a:srgbClr val="E6DED2"/>
            </a:solidFill>
            <a:prstDash val="solid"/>
          </a:ln>
          <a:effectLst>
            <a:outerShdw sx="100000" sy="100000" kx="0" ky="0" algn="bl" rotWithShape="0" blurRad="0" dist="20320" dir="2700000">
              <a:srgbClr val="e6ded2">
                <a:alpha val="100000"/>
              </a:srgbClr>
            </a:outerShdw>
          </a:effectLst>
        </p:spPr>
      </p:sp>
      <p:sp>
        <p:nvSpPr>
          <p:cNvPr id="16" name="Shape 14"/>
          <p:cNvSpPr/>
          <p:nvPr/>
        </p:nvSpPr>
        <p:spPr>
          <a:xfrm>
            <a:off x="7398067" y="4990862"/>
            <a:ext cx="121920" cy="1730812"/>
          </a:xfrm>
          <a:prstGeom prst="roundRect">
            <a:avLst>
              <a:gd name="adj" fmla="val 78139"/>
            </a:avLst>
          </a:prstGeom>
          <a:solidFill>
            <a:srgbClr val="E6DED2"/>
          </a:solidFill>
          <a:ln/>
        </p:spPr>
      </p:sp>
      <p:sp>
        <p:nvSpPr>
          <p:cNvPr id="17" name="Text 15"/>
          <p:cNvSpPr/>
          <p:nvPr/>
        </p:nvSpPr>
        <p:spPr>
          <a:xfrm>
            <a:off x="7777282" y="5248156"/>
            <a:ext cx="3936087"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Fragmented Communication</a:t>
            </a:r>
            <a:endParaRPr lang="en-US" sz="2200" dirty="0"/>
          </a:p>
        </p:txBody>
      </p:sp>
      <p:sp>
        <p:nvSpPr>
          <p:cNvPr id="18" name="Text 16"/>
          <p:cNvSpPr/>
          <p:nvPr/>
        </p:nvSpPr>
        <p:spPr>
          <a:xfrm>
            <a:off x="7777282" y="5738574"/>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No integrated platform connects pharmacy, insurer, and clinical systems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49987"/>
            <a:ext cx="8985528"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Prescription Fulfillment Failures</a:t>
            </a:r>
            <a:endParaRPr lang="en-US" sz="4450" dirty="0"/>
          </a:p>
        </p:txBody>
      </p:sp>
      <p:sp>
        <p:nvSpPr>
          <p:cNvPr id="3" name="Text 1"/>
          <p:cNvSpPr/>
          <p:nvPr/>
        </p:nvSpPr>
        <p:spPr>
          <a:xfrm>
            <a:off x="793790" y="2413873"/>
            <a:ext cx="3963591" cy="425291"/>
          </a:xfrm>
          <a:prstGeom prst="rect">
            <a:avLst/>
          </a:prstGeom>
          <a:noFill/>
          <a:ln/>
        </p:spPr>
        <p:txBody>
          <a:bodyPr wrap="none" lIns="0" tIns="0" rIns="0" bIns="0" rtlCol="0" anchor="t"/>
          <a:lstStyle/>
          <a:p>
            <a:pPr algn="l" indent="0" marL="0">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Common Failure Causes</a:t>
            </a:r>
            <a:endParaRPr lang="en-US" sz="2650" dirty="0"/>
          </a:p>
        </p:txBody>
      </p:sp>
      <p:sp>
        <p:nvSpPr>
          <p:cNvPr id="4" name="Text 2"/>
          <p:cNvSpPr/>
          <p:nvPr/>
        </p:nvSpPr>
        <p:spPr>
          <a:xfrm>
            <a:off x="793790" y="3065978"/>
            <a:ext cx="4205168" cy="362924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Insurance claim denials requiring justification</a:t>
            </a:r>
            <a:endParaRPr lang="en-US" sz="1750" dirty="0"/>
          </a:p>
          <a:p>
            <a:pPr algn="l" marL="342900" indent="-342900">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Prior authorization requirements not submitted</a:t>
            </a:r>
            <a:endParaRPr lang="en-US" sz="1750" dirty="0"/>
          </a:p>
          <a:p>
            <a:pPr algn="l" marL="342900" indent="-342900">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Formulary mismatches between prescribed and covered medications</a:t>
            </a:r>
            <a:endParaRPr lang="en-US" sz="1750" dirty="0"/>
          </a:p>
          <a:p>
            <a:pPr algn="l" marL="342900" indent="-342900">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Pharmacy stock availability issues</a:t>
            </a:r>
            <a:endParaRPr lang="en-US" sz="1750" dirty="0"/>
          </a:p>
          <a:p>
            <a:pPr algn="l" marL="342900" indent="-342900">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Missing patient eligibility verification</a:t>
            </a:r>
            <a:endParaRPr lang="en-US" sz="1750" dirty="0"/>
          </a:p>
        </p:txBody>
      </p:sp>
      <p:pic>
        <p:nvPicPr>
          <p:cNvPr id="5" name="Image 0" descr="preencoded.png">    </p:cNvPr>
          <p:cNvPicPr>
            <a:picLocks noChangeAspect="1"/>
          </p:cNvPicPr>
          <p:nvPr/>
        </p:nvPicPr>
        <p:blipFill>
          <a:blip r:embed="rId1"/>
          <a:stretch>
            <a:fillRect/>
          </a:stretch>
        </p:blipFill>
        <p:spPr>
          <a:xfrm>
            <a:off x="5559981" y="2154079"/>
            <a:ext cx="8284131" cy="49703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656755"/>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The Clinicians Unchained Solution</a:t>
            </a:r>
            <a:endParaRPr lang="en-US" sz="4450" dirty="0"/>
          </a:p>
        </p:txBody>
      </p:sp>
      <p:sp>
        <p:nvSpPr>
          <p:cNvPr id="4" name="Text 1"/>
          <p:cNvSpPr/>
          <p:nvPr/>
        </p:nvSpPr>
        <p:spPr>
          <a:xfrm>
            <a:off x="793790" y="3414474"/>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An agentic AI workflow engine that autonomously resolves prescription issues without requiring clinician involvement. The system deploys intelligent agents capable of calling pharmacies and insurers, navigating IVR systems, understanding responses, and taking appropriate corrective actions.</a:t>
            </a:r>
            <a:endParaRPr lang="en-US" sz="1750" dirty="0"/>
          </a:p>
        </p:txBody>
      </p:sp>
      <p:sp>
        <p:nvSpPr>
          <p:cNvPr id="5" name="Text 2"/>
          <p:cNvSpPr/>
          <p:nvPr/>
        </p:nvSpPr>
        <p:spPr>
          <a:xfrm>
            <a:off x="793790" y="5484138"/>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These autonomous agents function as 24/7 administrative assistants, handling the entire prescription resolution workflow from initial rejection to fulfillment confirmation.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57344"/>
            <a:ext cx="7679174"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Core Technical Architecture</a:t>
            </a:r>
            <a:endParaRPr lang="en-US" sz="4450" dirty="0"/>
          </a:p>
        </p:txBody>
      </p:sp>
      <p:pic>
        <p:nvPicPr>
          <p:cNvPr id="3" name="Image 0" descr="preencoded.png">    </p:cNvPr>
          <p:cNvPicPr>
            <a:picLocks noChangeAspect="1"/>
          </p:cNvPicPr>
          <p:nvPr/>
        </p:nvPicPr>
        <p:blipFill>
          <a:blip r:embed="rId1"/>
          <a:stretch>
            <a:fillRect/>
          </a:stretch>
        </p:blipFill>
        <p:spPr>
          <a:xfrm>
            <a:off x="793790" y="1819751"/>
            <a:ext cx="1134070" cy="1669852"/>
          </a:xfrm>
          <a:prstGeom prst="rect">
            <a:avLst/>
          </a:prstGeom>
        </p:spPr>
      </p:pic>
      <p:sp>
        <p:nvSpPr>
          <p:cNvPr id="4" name="Text 1"/>
          <p:cNvSpPr/>
          <p:nvPr/>
        </p:nvSpPr>
        <p:spPr>
          <a:xfrm>
            <a:off x="2154674" y="2046565"/>
            <a:ext cx="3555802"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Autonomous Voice Agents</a:t>
            </a:r>
            <a:endParaRPr lang="en-US" sz="2200" dirty="0"/>
          </a:p>
        </p:txBody>
      </p:sp>
      <p:sp>
        <p:nvSpPr>
          <p:cNvPr id="5" name="Text 2"/>
          <p:cNvSpPr/>
          <p:nvPr/>
        </p:nvSpPr>
        <p:spPr>
          <a:xfrm>
            <a:off x="2154674" y="2536984"/>
            <a:ext cx="11681936" cy="725805"/>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AI-powered calling system with speech recognition and natural language understanding for human-like conversations</a:t>
            </a:r>
            <a:endParaRPr lang="en-US" sz="1750" dirty="0"/>
          </a:p>
        </p:txBody>
      </p:sp>
      <p:pic>
        <p:nvPicPr>
          <p:cNvPr id="6" name="Image 1" descr="preencoded.png">    </p:cNvPr>
          <p:cNvPicPr>
            <a:picLocks noChangeAspect="1"/>
          </p:cNvPicPr>
          <p:nvPr/>
        </p:nvPicPr>
        <p:blipFill>
          <a:blip r:embed="rId2"/>
          <a:stretch>
            <a:fillRect/>
          </a:stretch>
        </p:blipFill>
        <p:spPr>
          <a:xfrm>
            <a:off x="793790" y="3489603"/>
            <a:ext cx="1134070" cy="1360884"/>
          </a:xfrm>
          <a:prstGeom prst="rect">
            <a:avLst/>
          </a:prstGeom>
        </p:spPr>
      </p:pic>
      <p:sp>
        <p:nvSpPr>
          <p:cNvPr id="7" name="Text 3"/>
          <p:cNvSpPr/>
          <p:nvPr/>
        </p:nvSpPr>
        <p:spPr>
          <a:xfrm>
            <a:off x="2154674" y="3716417"/>
            <a:ext cx="4405074"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Prescription Intelligence Engine</a:t>
            </a:r>
            <a:endParaRPr lang="en-US" sz="2200" dirty="0"/>
          </a:p>
        </p:txBody>
      </p:sp>
      <p:sp>
        <p:nvSpPr>
          <p:cNvPr id="8" name="Text 4"/>
          <p:cNvSpPr/>
          <p:nvPr/>
        </p:nvSpPr>
        <p:spPr>
          <a:xfrm>
            <a:off x="2154674" y="4206835"/>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Analyzes rejection reasons using NLP and determines optimal corrective actions based on context</a:t>
            </a:r>
            <a:endParaRPr lang="en-US" sz="1750" dirty="0"/>
          </a:p>
        </p:txBody>
      </p:sp>
      <p:pic>
        <p:nvPicPr>
          <p:cNvPr id="9" name="Image 2" descr="preencoded.png">    </p:cNvPr>
          <p:cNvPicPr>
            <a:picLocks noChangeAspect="1"/>
          </p:cNvPicPr>
          <p:nvPr/>
        </p:nvPicPr>
        <p:blipFill>
          <a:blip r:embed="rId3"/>
          <a:stretch>
            <a:fillRect/>
          </a:stretch>
        </p:blipFill>
        <p:spPr>
          <a:xfrm>
            <a:off x="793790" y="4850487"/>
            <a:ext cx="1134070" cy="1360884"/>
          </a:xfrm>
          <a:prstGeom prst="rect">
            <a:avLst/>
          </a:prstGeom>
        </p:spPr>
      </p:pic>
      <p:sp>
        <p:nvSpPr>
          <p:cNvPr id="10" name="Text 5"/>
          <p:cNvSpPr/>
          <p:nvPr/>
        </p:nvSpPr>
        <p:spPr>
          <a:xfrm>
            <a:off x="2154674" y="5077301"/>
            <a:ext cx="3774281"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Insurance Policy Reasoning</a:t>
            </a:r>
            <a:endParaRPr lang="en-US" sz="2200" dirty="0"/>
          </a:p>
        </p:txBody>
      </p:sp>
      <p:sp>
        <p:nvSpPr>
          <p:cNvPr id="11" name="Text 6"/>
          <p:cNvSpPr/>
          <p:nvPr/>
        </p:nvSpPr>
        <p:spPr>
          <a:xfrm>
            <a:off x="2154674" y="5567720"/>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Understands formulary rules, prior authorization logic, and coverage policies across payers</a:t>
            </a:r>
            <a:endParaRPr lang="en-US" sz="1750" dirty="0"/>
          </a:p>
        </p:txBody>
      </p:sp>
      <p:pic>
        <p:nvPicPr>
          <p:cNvPr id="12" name="Image 3" descr="preencoded.png">    </p:cNvPr>
          <p:cNvPicPr>
            <a:picLocks noChangeAspect="1"/>
          </p:cNvPicPr>
          <p:nvPr/>
        </p:nvPicPr>
        <p:blipFill>
          <a:blip r:embed="rId4"/>
          <a:stretch>
            <a:fillRect/>
          </a:stretch>
        </p:blipFill>
        <p:spPr>
          <a:xfrm>
            <a:off x="793790" y="6211372"/>
            <a:ext cx="1134070" cy="1360884"/>
          </a:xfrm>
          <a:prstGeom prst="rect">
            <a:avLst/>
          </a:prstGeom>
        </p:spPr>
      </p:pic>
      <p:sp>
        <p:nvSpPr>
          <p:cNvPr id="13" name="Text 7"/>
          <p:cNvSpPr/>
          <p:nvPr/>
        </p:nvSpPr>
        <p:spPr>
          <a:xfrm>
            <a:off x="2154674" y="6438186"/>
            <a:ext cx="3977402" cy="354330"/>
          </a:xfrm>
          <a:prstGeom prst="rect">
            <a:avLst/>
          </a:prstGeom>
          <a:noFill/>
          <a:ln/>
        </p:spPr>
        <p:txBody>
          <a:bodyPr wrap="none" lIns="0" tIns="0" rIns="0" bIns="0" rtlCol="0" anchor="t"/>
          <a:lstStyle/>
          <a:p>
            <a:pPr algn="l"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Clinician Notification System</a:t>
            </a:r>
            <a:endParaRPr lang="en-US" sz="2200" dirty="0"/>
          </a:p>
        </p:txBody>
      </p:sp>
      <p:sp>
        <p:nvSpPr>
          <p:cNvPr id="14" name="Text 8"/>
          <p:cNvSpPr/>
          <p:nvPr/>
        </p:nvSpPr>
        <p:spPr>
          <a:xfrm>
            <a:off x="2154674" y="6928604"/>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Only escalates cases requiring medical judgment or complex clinical decisions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625334"/>
            <a:ext cx="6017895"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Key Features in Detail</a:t>
            </a:r>
            <a:endParaRPr lang="en-US" sz="4450" dirty="0"/>
          </a:p>
        </p:txBody>
      </p:sp>
      <p:sp>
        <p:nvSpPr>
          <p:cNvPr id="4" name="Shape 1"/>
          <p:cNvSpPr/>
          <p:nvPr/>
        </p:nvSpPr>
        <p:spPr>
          <a:xfrm>
            <a:off x="793790" y="4674275"/>
            <a:ext cx="4196358" cy="2765227"/>
          </a:xfrm>
          <a:prstGeom prst="roundRect">
            <a:avLst>
              <a:gd name="adj" fmla="val 3445"/>
            </a:avLst>
          </a:prstGeom>
          <a:solidFill>
            <a:srgbClr val="E6DED2">
              <a:alpha val="50000"/>
            </a:srgbClr>
          </a:solidFill>
          <a:ln w="7620">
            <a:solidFill>
              <a:srgbClr val="CCC4B8"/>
            </a:solidFill>
            <a:prstDash val="solid"/>
          </a:ln>
          <a:effectLst>
            <a:outerShdw sx="100000" sy="100000" kx="0" ky="0" algn="bl" rotWithShape="0" blurRad="0" dist="20320" dir="2700000">
              <a:srgbClr val="ccc4b8">
                <a:alpha val="100000"/>
              </a:srgbClr>
            </a:outerShdw>
          </a:effectLst>
        </p:spPr>
      </p:sp>
      <p:sp>
        <p:nvSpPr>
          <p:cNvPr id="5" name="Text 2"/>
          <p:cNvSpPr/>
          <p:nvPr/>
        </p:nvSpPr>
        <p:spPr>
          <a:xfrm>
            <a:off x="1028224" y="4908709"/>
            <a:ext cx="3167896"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Intelligent Call Routing</a:t>
            </a:r>
            <a:endParaRPr lang="en-US" sz="2200" dirty="0"/>
          </a:p>
        </p:txBody>
      </p:sp>
      <p:sp>
        <p:nvSpPr>
          <p:cNvPr id="6" name="Text 3"/>
          <p:cNvSpPr/>
          <p:nvPr/>
        </p:nvSpPr>
        <p:spPr>
          <a:xfrm>
            <a:off x="1028224" y="5399127"/>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erif" pitchFamily="34" charset="0"/>
                <a:ea typeface="Noto Serif" pitchFamily="34" charset="-122"/>
                <a:cs typeface="Noto Serif" pitchFamily="34" charset="-120"/>
              </a:rPr>
              <a:t>Automatically identifies correct department and navigates complex IVR menus using learned patterns</a:t>
            </a:r>
            <a:endParaRPr lang="en-US" sz="1750" dirty="0"/>
          </a:p>
        </p:txBody>
      </p:sp>
      <p:sp>
        <p:nvSpPr>
          <p:cNvPr id="7" name="Shape 4"/>
          <p:cNvSpPr/>
          <p:nvPr/>
        </p:nvSpPr>
        <p:spPr>
          <a:xfrm>
            <a:off x="5216962" y="4674275"/>
            <a:ext cx="4196358" cy="2765227"/>
          </a:xfrm>
          <a:prstGeom prst="roundRect">
            <a:avLst>
              <a:gd name="adj" fmla="val 3445"/>
            </a:avLst>
          </a:prstGeom>
          <a:solidFill>
            <a:srgbClr val="E6DED2">
              <a:alpha val="50000"/>
            </a:srgbClr>
          </a:solidFill>
          <a:ln w="7620">
            <a:solidFill>
              <a:srgbClr val="CCC4B8"/>
            </a:solidFill>
            <a:prstDash val="solid"/>
          </a:ln>
          <a:effectLst>
            <a:outerShdw sx="100000" sy="100000" kx="0" ky="0" algn="bl" rotWithShape="0" blurRad="0" dist="20320" dir="2700000">
              <a:srgbClr val="ccc4b8">
                <a:alpha val="100000"/>
              </a:srgbClr>
            </a:outerShdw>
          </a:effectLst>
        </p:spPr>
      </p:sp>
      <p:sp>
        <p:nvSpPr>
          <p:cNvPr id="8" name="Text 5"/>
          <p:cNvSpPr/>
          <p:nvPr/>
        </p:nvSpPr>
        <p:spPr>
          <a:xfrm>
            <a:off x="5451396" y="4908709"/>
            <a:ext cx="2953941"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Document Processing</a:t>
            </a:r>
            <a:endParaRPr lang="en-US" sz="2200" dirty="0"/>
          </a:p>
        </p:txBody>
      </p:sp>
      <p:sp>
        <p:nvSpPr>
          <p:cNvPr id="9" name="Text 6"/>
          <p:cNvSpPr/>
          <p:nvPr/>
        </p:nvSpPr>
        <p:spPr>
          <a:xfrm>
            <a:off x="5451396" y="5399127"/>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erif" pitchFamily="34" charset="0"/>
                <a:ea typeface="Noto Serif" pitchFamily="34" charset="-122"/>
                <a:cs typeface="Noto Serif" pitchFamily="34" charset="-120"/>
              </a:rPr>
              <a:t>Extracts required information from patient records and formats for insurer submission</a:t>
            </a:r>
            <a:endParaRPr lang="en-US" sz="1750" dirty="0"/>
          </a:p>
        </p:txBody>
      </p:sp>
      <p:sp>
        <p:nvSpPr>
          <p:cNvPr id="10" name="Shape 7"/>
          <p:cNvSpPr/>
          <p:nvPr/>
        </p:nvSpPr>
        <p:spPr>
          <a:xfrm>
            <a:off x="9640133" y="4674275"/>
            <a:ext cx="4196358" cy="2765227"/>
          </a:xfrm>
          <a:prstGeom prst="roundRect">
            <a:avLst>
              <a:gd name="adj" fmla="val 3445"/>
            </a:avLst>
          </a:prstGeom>
          <a:solidFill>
            <a:srgbClr val="E6DED2">
              <a:alpha val="50000"/>
            </a:srgbClr>
          </a:solidFill>
          <a:ln w="7620">
            <a:solidFill>
              <a:srgbClr val="CCC4B8"/>
            </a:solidFill>
            <a:prstDash val="solid"/>
          </a:ln>
          <a:effectLst>
            <a:outerShdw sx="100000" sy="100000" kx="0" ky="0" algn="bl" rotWithShape="0" blurRad="0" dist="20320" dir="2700000">
              <a:srgbClr val="ccc4b8">
                <a:alpha val="100000"/>
              </a:srgbClr>
            </a:outerShdw>
          </a:effectLst>
        </p:spPr>
      </p:sp>
      <p:sp>
        <p:nvSpPr>
          <p:cNvPr id="11" name="Text 8"/>
          <p:cNvSpPr/>
          <p:nvPr/>
        </p:nvSpPr>
        <p:spPr>
          <a:xfrm>
            <a:off x="9874568" y="4908709"/>
            <a:ext cx="3727490" cy="708660"/>
          </a:xfrm>
          <a:prstGeom prst="rect">
            <a:avLst/>
          </a:prstGeom>
          <a:noFill/>
          <a:ln/>
        </p:spPr>
        <p:txBody>
          <a:bodyPr wrap="square" lIns="0" tIns="0" rIns="0" bIns="0" rtlCol="0" anchor="t"/>
          <a:lstStyle/>
          <a:p>
            <a:pPr algn="l" indent="0" marL="0">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Alternative Recommendations</a:t>
            </a:r>
            <a:endParaRPr lang="en-US" sz="2200" dirty="0"/>
          </a:p>
        </p:txBody>
      </p:sp>
      <p:sp>
        <p:nvSpPr>
          <p:cNvPr id="12" name="Text 9"/>
          <p:cNvSpPr/>
          <p:nvPr/>
        </p:nvSpPr>
        <p:spPr>
          <a:xfrm>
            <a:off x="9874568" y="5753457"/>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erif" pitchFamily="34" charset="0"/>
                <a:ea typeface="Noto Serif" pitchFamily="34" charset="-122"/>
                <a:cs typeface="Noto Serif" pitchFamily="34" charset="-120"/>
              </a:rPr>
              <a:t>Suggests formulary-appropriate medication alternatives when original prescription cannot be approved</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07946" y="699730"/>
            <a:ext cx="7309842" cy="632222"/>
          </a:xfrm>
          <a:prstGeom prst="rect">
            <a:avLst/>
          </a:prstGeom>
          <a:noFill/>
          <a:ln/>
        </p:spPr>
        <p:txBody>
          <a:bodyPr wrap="none" lIns="0" tIns="0" rIns="0" bIns="0" rtlCol="0" anchor="t"/>
          <a:lstStyle/>
          <a:p>
            <a:pPr algn="l" indent="0" marL="0">
              <a:lnSpc>
                <a:spcPts val="4950"/>
              </a:lnSpc>
              <a:buNone/>
            </a:pPr>
            <a:r>
              <a:rPr lang="en-US" sz="3950" dirty="0">
                <a:solidFill>
                  <a:srgbClr val="3A3A3A"/>
                </a:solidFill>
                <a:latin typeface="Noto Serif Medium" pitchFamily="34" charset="0"/>
                <a:ea typeface="Noto Serif Medium" pitchFamily="34" charset="-122"/>
                <a:cs typeface="Noto Serif Medium" pitchFamily="34" charset="-120"/>
              </a:rPr>
              <a:t>Real-Time Workflow Example</a:t>
            </a:r>
            <a:endParaRPr lang="en-US" sz="3950" dirty="0"/>
          </a:p>
        </p:txBody>
      </p:sp>
      <p:sp>
        <p:nvSpPr>
          <p:cNvPr id="3" name="Text 1"/>
          <p:cNvSpPr/>
          <p:nvPr/>
        </p:nvSpPr>
        <p:spPr>
          <a:xfrm>
            <a:off x="707946" y="1692712"/>
            <a:ext cx="202287" cy="25277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Light" pitchFamily="34" charset="0"/>
                <a:ea typeface="Noto Serif Light" pitchFamily="34" charset="-122"/>
                <a:cs typeface="Noto Serif Light" pitchFamily="34" charset="-120"/>
              </a:rPr>
              <a:t>01</a:t>
            </a:r>
            <a:endParaRPr lang="en-US" sz="1550" dirty="0"/>
          </a:p>
        </p:txBody>
      </p:sp>
      <p:sp>
        <p:nvSpPr>
          <p:cNvPr id="4" name="Shape 2"/>
          <p:cNvSpPr/>
          <p:nvPr/>
        </p:nvSpPr>
        <p:spPr>
          <a:xfrm>
            <a:off x="707946" y="2013466"/>
            <a:ext cx="6517005" cy="22860"/>
          </a:xfrm>
          <a:prstGeom prst="rect">
            <a:avLst/>
          </a:prstGeom>
          <a:solidFill>
            <a:srgbClr val="E6DED2"/>
          </a:solidFill>
          <a:ln/>
        </p:spPr>
      </p:sp>
      <p:sp>
        <p:nvSpPr>
          <p:cNvPr id="5" name="Text 3"/>
          <p:cNvSpPr/>
          <p:nvPr/>
        </p:nvSpPr>
        <p:spPr>
          <a:xfrm>
            <a:off x="707946" y="2160270"/>
            <a:ext cx="3851791" cy="316111"/>
          </a:xfrm>
          <a:prstGeom prst="rect">
            <a:avLst/>
          </a:prstGeom>
          <a:noFill/>
          <a:ln/>
        </p:spPr>
        <p:txBody>
          <a:bodyPr wrap="none" lIns="0" tIns="0" rIns="0" bIns="0" rtlCol="0" anchor="t"/>
          <a:lstStyle/>
          <a:p>
            <a:pPr algn="l" indent="0" marL="0">
              <a:lnSpc>
                <a:spcPts val="2450"/>
              </a:lnSpc>
              <a:buNone/>
            </a:pPr>
            <a:r>
              <a:rPr lang="en-US" sz="1950" dirty="0">
                <a:solidFill>
                  <a:srgbClr val="4C4C4C"/>
                </a:solidFill>
                <a:latin typeface="Noto Serif Medium" pitchFamily="34" charset="0"/>
                <a:ea typeface="Noto Serif Medium" pitchFamily="34" charset="-122"/>
                <a:cs typeface="Noto Serif Medium" pitchFamily="34" charset="-120"/>
              </a:rPr>
              <a:t>Prescription Rejection Detected</a:t>
            </a:r>
            <a:endParaRPr lang="en-US" sz="1950" dirty="0"/>
          </a:p>
        </p:txBody>
      </p:sp>
      <p:sp>
        <p:nvSpPr>
          <p:cNvPr id="6" name="Text 4"/>
          <p:cNvSpPr/>
          <p:nvPr/>
        </p:nvSpPr>
        <p:spPr>
          <a:xfrm>
            <a:off x="707946" y="2584609"/>
            <a:ext cx="6517005" cy="612219"/>
          </a:xfrm>
          <a:prstGeom prst="rect">
            <a:avLst/>
          </a:prstGeom>
          <a:noFill/>
          <a:ln/>
        </p:spPr>
        <p:txBody>
          <a:bodyPr wrap="square" lIns="0" tIns="0" rIns="0" bIns="0" rtlCol="0" anchor="t"/>
          <a:lstStyle/>
          <a:p>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System automatically flags insurance denial during claim submission</a:t>
            </a:r>
            <a:endParaRPr lang="en-US" sz="1550" dirty="0"/>
          </a:p>
        </p:txBody>
      </p:sp>
      <p:sp>
        <p:nvSpPr>
          <p:cNvPr id="7" name="Text 5"/>
          <p:cNvSpPr/>
          <p:nvPr/>
        </p:nvSpPr>
        <p:spPr>
          <a:xfrm>
            <a:off x="7405330" y="1692712"/>
            <a:ext cx="202287" cy="25277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Light" pitchFamily="34" charset="0"/>
                <a:ea typeface="Noto Serif Light" pitchFamily="34" charset="-122"/>
                <a:cs typeface="Noto Serif Light" pitchFamily="34" charset="-120"/>
              </a:rPr>
              <a:t>02</a:t>
            </a:r>
            <a:endParaRPr lang="en-US" sz="1550" dirty="0"/>
          </a:p>
        </p:txBody>
      </p:sp>
      <p:sp>
        <p:nvSpPr>
          <p:cNvPr id="8" name="Shape 6"/>
          <p:cNvSpPr/>
          <p:nvPr/>
        </p:nvSpPr>
        <p:spPr>
          <a:xfrm>
            <a:off x="7405330" y="2013466"/>
            <a:ext cx="6517124" cy="22860"/>
          </a:xfrm>
          <a:prstGeom prst="rect">
            <a:avLst/>
          </a:prstGeom>
          <a:solidFill>
            <a:srgbClr val="E6DED2"/>
          </a:solidFill>
          <a:ln/>
        </p:spPr>
      </p:sp>
      <p:sp>
        <p:nvSpPr>
          <p:cNvPr id="9" name="Text 7"/>
          <p:cNvSpPr/>
          <p:nvPr/>
        </p:nvSpPr>
        <p:spPr>
          <a:xfrm>
            <a:off x="7405330" y="2160270"/>
            <a:ext cx="2879884" cy="316111"/>
          </a:xfrm>
          <a:prstGeom prst="rect">
            <a:avLst/>
          </a:prstGeom>
          <a:noFill/>
          <a:ln/>
        </p:spPr>
        <p:txBody>
          <a:bodyPr wrap="none" lIns="0" tIns="0" rIns="0" bIns="0" rtlCol="0" anchor="t"/>
          <a:lstStyle/>
          <a:p>
            <a:pPr algn="l" indent="0" marL="0">
              <a:lnSpc>
                <a:spcPts val="2450"/>
              </a:lnSpc>
              <a:buNone/>
            </a:pPr>
            <a:r>
              <a:rPr lang="en-US" sz="1950" dirty="0">
                <a:solidFill>
                  <a:srgbClr val="4C4C4C"/>
                </a:solidFill>
                <a:latin typeface="Noto Serif Medium" pitchFamily="34" charset="0"/>
                <a:ea typeface="Noto Serif Medium" pitchFamily="34" charset="-122"/>
                <a:cs typeface="Noto Serif Medium" pitchFamily="34" charset="-120"/>
              </a:rPr>
              <a:t>Insurance Call Initiated</a:t>
            </a:r>
            <a:endParaRPr lang="en-US" sz="1950" dirty="0"/>
          </a:p>
        </p:txBody>
      </p:sp>
      <p:sp>
        <p:nvSpPr>
          <p:cNvPr id="10" name="Text 8"/>
          <p:cNvSpPr/>
          <p:nvPr/>
        </p:nvSpPr>
        <p:spPr>
          <a:xfrm>
            <a:off x="7405330" y="2584609"/>
            <a:ext cx="6517124" cy="612219"/>
          </a:xfrm>
          <a:prstGeom prst="rect">
            <a:avLst/>
          </a:prstGeom>
          <a:noFill/>
          <a:ln/>
        </p:spPr>
        <p:txBody>
          <a:bodyPr wrap="square" lIns="0" tIns="0" rIns="0" bIns="0" rtlCol="0" anchor="t"/>
          <a:lstStyle/>
          <a:p>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AI agent calls payer, navigates IVR, and connects to appropriate representative</a:t>
            </a:r>
            <a:endParaRPr lang="en-US" sz="1550" dirty="0"/>
          </a:p>
        </p:txBody>
      </p:sp>
      <p:sp>
        <p:nvSpPr>
          <p:cNvPr id="11" name="Text 9"/>
          <p:cNvSpPr/>
          <p:nvPr/>
        </p:nvSpPr>
        <p:spPr>
          <a:xfrm>
            <a:off x="707946" y="3528893"/>
            <a:ext cx="202287" cy="25277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Light" pitchFamily="34" charset="0"/>
                <a:ea typeface="Noto Serif Light" pitchFamily="34" charset="-122"/>
                <a:cs typeface="Noto Serif Light" pitchFamily="34" charset="-120"/>
              </a:rPr>
              <a:t>03</a:t>
            </a:r>
            <a:endParaRPr lang="en-US" sz="1550" dirty="0"/>
          </a:p>
        </p:txBody>
      </p:sp>
      <p:sp>
        <p:nvSpPr>
          <p:cNvPr id="12" name="Shape 10"/>
          <p:cNvSpPr/>
          <p:nvPr/>
        </p:nvSpPr>
        <p:spPr>
          <a:xfrm>
            <a:off x="707946" y="3849648"/>
            <a:ext cx="6517005" cy="22860"/>
          </a:xfrm>
          <a:prstGeom prst="rect">
            <a:avLst/>
          </a:prstGeom>
          <a:solidFill>
            <a:srgbClr val="E6DED2"/>
          </a:solidFill>
          <a:ln/>
        </p:spPr>
      </p:sp>
      <p:sp>
        <p:nvSpPr>
          <p:cNvPr id="13" name="Text 11"/>
          <p:cNvSpPr/>
          <p:nvPr/>
        </p:nvSpPr>
        <p:spPr>
          <a:xfrm>
            <a:off x="707946" y="3996452"/>
            <a:ext cx="2617946" cy="316111"/>
          </a:xfrm>
          <a:prstGeom prst="rect">
            <a:avLst/>
          </a:prstGeom>
          <a:noFill/>
          <a:ln/>
        </p:spPr>
        <p:txBody>
          <a:bodyPr wrap="none" lIns="0" tIns="0" rIns="0" bIns="0" rtlCol="0" anchor="t"/>
          <a:lstStyle/>
          <a:p>
            <a:pPr algn="l" indent="0" marL="0">
              <a:lnSpc>
                <a:spcPts val="2450"/>
              </a:lnSpc>
              <a:buNone/>
            </a:pPr>
            <a:r>
              <a:rPr lang="en-US" sz="1950" dirty="0">
                <a:solidFill>
                  <a:srgbClr val="4C4C4C"/>
                </a:solidFill>
                <a:latin typeface="Noto Serif Medium" pitchFamily="34" charset="0"/>
                <a:ea typeface="Noto Serif Medium" pitchFamily="34" charset="-122"/>
                <a:cs typeface="Noto Serif Medium" pitchFamily="34" charset="-120"/>
              </a:rPr>
              <a:t>Reason Identification</a:t>
            </a:r>
            <a:endParaRPr lang="en-US" sz="1950" dirty="0"/>
          </a:p>
        </p:txBody>
      </p:sp>
      <p:sp>
        <p:nvSpPr>
          <p:cNvPr id="14" name="Text 12"/>
          <p:cNvSpPr/>
          <p:nvPr/>
        </p:nvSpPr>
        <p:spPr>
          <a:xfrm>
            <a:off x="707946" y="4420791"/>
            <a:ext cx="6517005" cy="612219"/>
          </a:xfrm>
          <a:prstGeom prst="rect">
            <a:avLst/>
          </a:prstGeom>
          <a:noFill/>
          <a:ln/>
        </p:spPr>
        <p:txBody>
          <a:bodyPr wrap="square" lIns="0" tIns="0" rIns="0" bIns="0" rtlCol="0" anchor="t"/>
          <a:lstStyle/>
          <a:p>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Agent queries denial code and obtains detailed explanation for rejection</a:t>
            </a:r>
            <a:endParaRPr lang="en-US" sz="1550" dirty="0"/>
          </a:p>
        </p:txBody>
      </p:sp>
      <p:sp>
        <p:nvSpPr>
          <p:cNvPr id="15" name="Text 13"/>
          <p:cNvSpPr/>
          <p:nvPr/>
        </p:nvSpPr>
        <p:spPr>
          <a:xfrm>
            <a:off x="7405330" y="3528893"/>
            <a:ext cx="202287" cy="25277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Light" pitchFamily="34" charset="0"/>
                <a:ea typeface="Noto Serif Light" pitchFamily="34" charset="-122"/>
                <a:cs typeface="Noto Serif Light" pitchFamily="34" charset="-120"/>
              </a:rPr>
              <a:t>04</a:t>
            </a:r>
            <a:endParaRPr lang="en-US" sz="1550" dirty="0"/>
          </a:p>
        </p:txBody>
      </p:sp>
      <p:sp>
        <p:nvSpPr>
          <p:cNvPr id="16" name="Shape 14"/>
          <p:cNvSpPr/>
          <p:nvPr/>
        </p:nvSpPr>
        <p:spPr>
          <a:xfrm>
            <a:off x="7405330" y="3849648"/>
            <a:ext cx="6517124" cy="22860"/>
          </a:xfrm>
          <a:prstGeom prst="rect">
            <a:avLst/>
          </a:prstGeom>
          <a:solidFill>
            <a:srgbClr val="E6DED2"/>
          </a:solidFill>
          <a:ln/>
        </p:spPr>
      </p:sp>
      <p:sp>
        <p:nvSpPr>
          <p:cNvPr id="17" name="Text 15"/>
          <p:cNvSpPr/>
          <p:nvPr/>
        </p:nvSpPr>
        <p:spPr>
          <a:xfrm>
            <a:off x="7405330" y="3996452"/>
            <a:ext cx="3045143" cy="316111"/>
          </a:xfrm>
          <a:prstGeom prst="rect">
            <a:avLst/>
          </a:prstGeom>
          <a:noFill/>
          <a:ln/>
        </p:spPr>
        <p:txBody>
          <a:bodyPr wrap="none" lIns="0" tIns="0" rIns="0" bIns="0" rtlCol="0" anchor="t"/>
          <a:lstStyle/>
          <a:p>
            <a:pPr algn="l" indent="0" marL="0">
              <a:lnSpc>
                <a:spcPts val="2450"/>
              </a:lnSpc>
              <a:buNone/>
            </a:pPr>
            <a:r>
              <a:rPr lang="en-US" sz="1950" dirty="0">
                <a:solidFill>
                  <a:srgbClr val="4C4C4C"/>
                </a:solidFill>
                <a:latin typeface="Noto Serif Medium" pitchFamily="34" charset="0"/>
                <a:ea typeface="Noto Serif Medium" pitchFamily="34" charset="-122"/>
                <a:cs typeface="Noto Serif Medium" pitchFamily="34" charset="-120"/>
              </a:rPr>
              <a:t>Authorization Submitted</a:t>
            </a:r>
            <a:endParaRPr lang="en-US" sz="1950" dirty="0"/>
          </a:p>
        </p:txBody>
      </p:sp>
      <p:sp>
        <p:nvSpPr>
          <p:cNvPr id="18" name="Text 16"/>
          <p:cNvSpPr/>
          <p:nvPr/>
        </p:nvSpPr>
        <p:spPr>
          <a:xfrm>
            <a:off x="7405330" y="4420791"/>
            <a:ext cx="6517124" cy="612219"/>
          </a:xfrm>
          <a:prstGeom prst="rect">
            <a:avLst/>
          </a:prstGeom>
          <a:noFill/>
          <a:ln/>
        </p:spPr>
        <p:txBody>
          <a:bodyPr wrap="square" lIns="0" tIns="0" rIns="0" bIns="0" rtlCol="0" anchor="t"/>
          <a:lstStyle/>
          <a:p>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Required clinical documentation gathered and prior authorization request processed</a:t>
            </a:r>
            <a:endParaRPr lang="en-US" sz="1550" dirty="0"/>
          </a:p>
        </p:txBody>
      </p:sp>
      <p:sp>
        <p:nvSpPr>
          <p:cNvPr id="19" name="Text 17"/>
          <p:cNvSpPr/>
          <p:nvPr/>
        </p:nvSpPr>
        <p:spPr>
          <a:xfrm>
            <a:off x="707946" y="5365075"/>
            <a:ext cx="202287" cy="25277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Light" pitchFamily="34" charset="0"/>
                <a:ea typeface="Noto Serif Light" pitchFamily="34" charset="-122"/>
                <a:cs typeface="Noto Serif Light" pitchFamily="34" charset="-120"/>
              </a:rPr>
              <a:t>05</a:t>
            </a:r>
            <a:endParaRPr lang="en-US" sz="1550" dirty="0"/>
          </a:p>
        </p:txBody>
      </p:sp>
      <p:sp>
        <p:nvSpPr>
          <p:cNvPr id="20" name="Shape 18"/>
          <p:cNvSpPr/>
          <p:nvPr/>
        </p:nvSpPr>
        <p:spPr>
          <a:xfrm>
            <a:off x="707946" y="5685830"/>
            <a:ext cx="6517005" cy="22860"/>
          </a:xfrm>
          <a:prstGeom prst="rect">
            <a:avLst/>
          </a:prstGeom>
          <a:solidFill>
            <a:srgbClr val="E6DED2"/>
          </a:solidFill>
          <a:ln/>
        </p:spPr>
      </p:sp>
      <p:sp>
        <p:nvSpPr>
          <p:cNvPr id="21" name="Text 19"/>
          <p:cNvSpPr/>
          <p:nvPr/>
        </p:nvSpPr>
        <p:spPr>
          <a:xfrm>
            <a:off x="707946" y="5832634"/>
            <a:ext cx="2925604" cy="316111"/>
          </a:xfrm>
          <a:prstGeom prst="rect">
            <a:avLst/>
          </a:prstGeom>
          <a:noFill/>
          <a:ln/>
        </p:spPr>
        <p:txBody>
          <a:bodyPr wrap="none" lIns="0" tIns="0" rIns="0" bIns="0" rtlCol="0" anchor="t"/>
          <a:lstStyle/>
          <a:p>
            <a:pPr algn="l" indent="0" marL="0">
              <a:lnSpc>
                <a:spcPts val="2450"/>
              </a:lnSpc>
              <a:buNone/>
            </a:pPr>
            <a:r>
              <a:rPr lang="en-US" sz="1950" dirty="0">
                <a:solidFill>
                  <a:srgbClr val="4C4C4C"/>
                </a:solidFill>
                <a:latin typeface="Noto Serif Medium" pitchFamily="34" charset="0"/>
                <a:ea typeface="Noto Serif Medium" pitchFamily="34" charset="-122"/>
                <a:cs typeface="Noto Serif Medium" pitchFamily="34" charset="-120"/>
              </a:rPr>
              <a:t>Pharmacy Coordination</a:t>
            </a:r>
            <a:endParaRPr lang="en-US" sz="1950" dirty="0"/>
          </a:p>
        </p:txBody>
      </p:sp>
      <p:sp>
        <p:nvSpPr>
          <p:cNvPr id="22" name="Text 20"/>
          <p:cNvSpPr/>
          <p:nvPr/>
        </p:nvSpPr>
        <p:spPr>
          <a:xfrm>
            <a:off x="707946" y="6256973"/>
            <a:ext cx="6517005" cy="612219"/>
          </a:xfrm>
          <a:prstGeom prst="rect">
            <a:avLst/>
          </a:prstGeom>
          <a:noFill/>
          <a:ln/>
        </p:spPr>
        <p:txBody>
          <a:bodyPr wrap="square" lIns="0" tIns="0" rIns="0" bIns="0" rtlCol="0" anchor="t"/>
          <a:lstStyle/>
          <a:p>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Updated claim status communicated to pharmacy with expected fulfillment timeline</a:t>
            </a:r>
            <a:endParaRPr lang="en-US" sz="1550" dirty="0"/>
          </a:p>
        </p:txBody>
      </p:sp>
      <p:sp>
        <p:nvSpPr>
          <p:cNvPr id="23" name="Text 21"/>
          <p:cNvSpPr/>
          <p:nvPr/>
        </p:nvSpPr>
        <p:spPr>
          <a:xfrm>
            <a:off x="7405330" y="5365075"/>
            <a:ext cx="202287" cy="25277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Light" pitchFamily="34" charset="0"/>
                <a:ea typeface="Noto Serif Light" pitchFamily="34" charset="-122"/>
                <a:cs typeface="Noto Serif Light" pitchFamily="34" charset="-120"/>
              </a:rPr>
              <a:t>06</a:t>
            </a:r>
            <a:endParaRPr lang="en-US" sz="1550" dirty="0"/>
          </a:p>
        </p:txBody>
      </p:sp>
      <p:sp>
        <p:nvSpPr>
          <p:cNvPr id="24" name="Shape 22"/>
          <p:cNvSpPr/>
          <p:nvPr/>
        </p:nvSpPr>
        <p:spPr>
          <a:xfrm>
            <a:off x="7405330" y="5685830"/>
            <a:ext cx="6517124" cy="22860"/>
          </a:xfrm>
          <a:prstGeom prst="rect">
            <a:avLst/>
          </a:prstGeom>
          <a:solidFill>
            <a:srgbClr val="E6DED2"/>
          </a:solidFill>
          <a:ln/>
        </p:spPr>
      </p:sp>
      <p:sp>
        <p:nvSpPr>
          <p:cNvPr id="25" name="Text 23"/>
          <p:cNvSpPr/>
          <p:nvPr/>
        </p:nvSpPr>
        <p:spPr>
          <a:xfrm>
            <a:off x="7405330" y="5832634"/>
            <a:ext cx="2907983" cy="316111"/>
          </a:xfrm>
          <a:prstGeom prst="rect">
            <a:avLst/>
          </a:prstGeom>
          <a:noFill/>
          <a:ln/>
        </p:spPr>
        <p:txBody>
          <a:bodyPr wrap="none" lIns="0" tIns="0" rIns="0" bIns="0" rtlCol="0" anchor="t"/>
          <a:lstStyle/>
          <a:p>
            <a:pPr algn="l" indent="0" marL="0">
              <a:lnSpc>
                <a:spcPts val="2450"/>
              </a:lnSpc>
              <a:buNone/>
            </a:pPr>
            <a:r>
              <a:rPr lang="en-US" sz="1950" dirty="0">
                <a:solidFill>
                  <a:srgbClr val="4C4C4C"/>
                </a:solidFill>
                <a:latin typeface="Noto Serif Medium" pitchFamily="34" charset="0"/>
                <a:ea typeface="Noto Serif Medium" pitchFamily="34" charset="-122"/>
                <a:cs typeface="Noto Serif Medium" pitchFamily="34" charset="-120"/>
              </a:rPr>
              <a:t>Confirmation Delivered</a:t>
            </a:r>
            <a:endParaRPr lang="en-US" sz="1950" dirty="0"/>
          </a:p>
        </p:txBody>
      </p:sp>
      <p:sp>
        <p:nvSpPr>
          <p:cNvPr id="26" name="Text 24"/>
          <p:cNvSpPr/>
          <p:nvPr/>
        </p:nvSpPr>
        <p:spPr>
          <a:xfrm>
            <a:off x="7405330" y="6256973"/>
            <a:ext cx="6517124" cy="30611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Patient notified and clinician receives completion summary</a:t>
            </a:r>
            <a:endParaRPr lang="en-US" sz="1550" dirty="0"/>
          </a:p>
        </p:txBody>
      </p:sp>
      <p:sp>
        <p:nvSpPr>
          <p:cNvPr id="27" name="Text 25"/>
          <p:cNvSpPr/>
          <p:nvPr/>
        </p:nvSpPr>
        <p:spPr>
          <a:xfrm>
            <a:off x="707946" y="7223760"/>
            <a:ext cx="13214509" cy="306110"/>
          </a:xfrm>
          <a:prstGeom prst="rect">
            <a:avLst/>
          </a:prstGeom>
          <a:noFill/>
          <a:ln/>
        </p:spPr>
        <p:txBody>
          <a:bodyPr wrap="none" lIns="0" tIns="0" rIns="0" bIns="0" rtlCol="0" anchor="t"/>
          <a:lstStyle/>
          <a:p>
            <a:pPr algn="l" indent="0" marL="0">
              <a:lnSpc>
                <a:spcPts val="2400"/>
              </a:lnSpc>
              <a:buNone/>
            </a:pPr>
            <a:r>
              <a:rPr lang="en-US" sz="1550" dirty="0">
                <a:solidFill>
                  <a:srgbClr val="4C4C4C"/>
                </a:solidFill>
                <a:highlight>
                  <a:srgbClr val="9C9283"/>
                </a:highlight>
                <a:latin typeface="Noto Serif" pitchFamily="34" charset="0"/>
                <a:ea typeface="Noto Serif" pitchFamily="34" charset="-122"/>
                <a:cs typeface="Noto Serif" pitchFamily="34" charset="-120"/>
              </a:rPr>
              <a:t>Total elapsed time: 8-15 minutes</a:t>
            </a:r>
            <a:pPr algn="l" indent="0" marL="0">
              <a:lnSpc>
                <a:spcPts val="2400"/>
              </a:lnSpc>
              <a:buNone/>
            </a:pPr>
            <a:r>
              <a:rPr lang="en-US" sz="1550" dirty="0">
                <a:solidFill>
                  <a:srgbClr val="4C4C4C"/>
                </a:solidFill>
                <a:latin typeface="Noto Serif" pitchFamily="34" charset="0"/>
                <a:ea typeface="Noto Serif" pitchFamily="34" charset="-122"/>
                <a:cs typeface="Noto Serif" pitchFamily="34" charset="-120"/>
              </a:rPr>
              <a:t> | </a:t>
            </a:r>
            <a:pPr algn="l" indent="0" marL="0">
              <a:lnSpc>
                <a:spcPts val="2400"/>
              </a:lnSpc>
              <a:buNone/>
            </a:pPr>
            <a:r>
              <a:rPr lang="en-US" sz="1550" dirty="0">
                <a:solidFill>
                  <a:srgbClr val="4C4C4C"/>
                </a:solidFill>
                <a:highlight>
                  <a:srgbClr val="9C9283"/>
                </a:highlight>
                <a:latin typeface="Noto Serif" pitchFamily="34" charset="0"/>
                <a:ea typeface="Noto Serif" pitchFamily="34" charset="-122"/>
                <a:cs typeface="Noto Serif" pitchFamily="34" charset="-120"/>
              </a:rPr>
              <a:t>Clinician involvement: 0 minutes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464362"/>
            <a:ext cx="6371749"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Transformative Impact</a:t>
            </a:r>
            <a:endParaRPr lang="en-US" sz="4450" dirty="0"/>
          </a:p>
        </p:txBody>
      </p:sp>
      <p:sp>
        <p:nvSpPr>
          <p:cNvPr id="4" name="Text 1"/>
          <p:cNvSpPr/>
          <p:nvPr/>
        </p:nvSpPr>
        <p:spPr>
          <a:xfrm>
            <a:off x="793790" y="4626650"/>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85%</a:t>
            </a:r>
            <a:endParaRPr lang="en-US" sz="5850" dirty="0"/>
          </a:p>
        </p:txBody>
      </p:sp>
      <p:sp>
        <p:nvSpPr>
          <p:cNvPr id="5" name="Text 2"/>
          <p:cNvSpPr/>
          <p:nvPr/>
        </p:nvSpPr>
        <p:spPr>
          <a:xfrm>
            <a:off x="900113" y="565844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Time Savings</a:t>
            </a:r>
            <a:endParaRPr lang="en-US" sz="2200" dirty="0"/>
          </a:p>
        </p:txBody>
      </p:sp>
      <p:sp>
        <p:nvSpPr>
          <p:cNvPr id="6" name="Text 3"/>
          <p:cNvSpPr/>
          <p:nvPr/>
        </p:nvSpPr>
        <p:spPr>
          <a:xfrm>
            <a:off x="793790" y="6148864"/>
            <a:ext cx="3048000" cy="1088708"/>
          </a:xfrm>
          <a:prstGeom prst="rect">
            <a:avLst/>
          </a:prstGeom>
          <a:noFill/>
          <a:ln/>
        </p:spPr>
        <p:txBody>
          <a:bodyPr wrap="square" lIns="0" tIns="0" rIns="0" bIns="0" rtlCol="0" anchor="t"/>
          <a:lstStyle/>
          <a:p>
            <a:pPr algn="ctr"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Reduction in clinician administrative burden per prescription issue</a:t>
            </a:r>
            <a:endParaRPr lang="en-US" sz="1750" dirty="0"/>
          </a:p>
        </p:txBody>
      </p:sp>
      <p:sp>
        <p:nvSpPr>
          <p:cNvPr id="7" name="Text 4"/>
          <p:cNvSpPr/>
          <p:nvPr/>
        </p:nvSpPr>
        <p:spPr>
          <a:xfrm>
            <a:off x="4125278" y="4626650"/>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24/7</a:t>
            </a:r>
            <a:endParaRPr lang="en-US" sz="5850" dirty="0"/>
          </a:p>
        </p:txBody>
      </p:sp>
      <p:sp>
        <p:nvSpPr>
          <p:cNvPr id="8" name="Text 5"/>
          <p:cNvSpPr/>
          <p:nvPr/>
        </p:nvSpPr>
        <p:spPr>
          <a:xfrm>
            <a:off x="4133017" y="5658445"/>
            <a:ext cx="3032641" cy="354330"/>
          </a:xfrm>
          <a:prstGeom prst="rect">
            <a:avLst/>
          </a:prstGeom>
          <a:noFill/>
          <a:ln/>
        </p:spPr>
        <p:txBody>
          <a:bodyPr wrap="none" lIns="0" tIns="0" rIns="0" bIns="0" rtlCol="0" anchor="t"/>
          <a:lstStyle/>
          <a:p>
            <a:pPr algn="ctr"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Continuous Operation</a:t>
            </a:r>
            <a:endParaRPr lang="en-US" sz="2200" dirty="0"/>
          </a:p>
        </p:txBody>
      </p:sp>
      <p:sp>
        <p:nvSpPr>
          <p:cNvPr id="9" name="Text 6"/>
          <p:cNvSpPr/>
          <p:nvPr/>
        </p:nvSpPr>
        <p:spPr>
          <a:xfrm>
            <a:off x="4125278" y="6148864"/>
            <a:ext cx="3048119" cy="1088708"/>
          </a:xfrm>
          <a:prstGeom prst="rect">
            <a:avLst/>
          </a:prstGeom>
          <a:noFill/>
          <a:ln/>
        </p:spPr>
        <p:txBody>
          <a:bodyPr wrap="square" lIns="0" tIns="0" rIns="0" bIns="0" rtlCol="0" anchor="t"/>
          <a:lstStyle/>
          <a:p>
            <a:pPr algn="ctr"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Round-the-clock automated resolution without staffing constraints</a:t>
            </a:r>
            <a:endParaRPr lang="en-US" sz="1750" dirty="0"/>
          </a:p>
        </p:txBody>
      </p:sp>
      <p:sp>
        <p:nvSpPr>
          <p:cNvPr id="10" name="Text 7"/>
          <p:cNvSpPr/>
          <p:nvPr/>
        </p:nvSpPr>
        <p:spPr>
          <a:xfrm>
            <a:off x="7456884" y="4626650"/>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3x</a:t>
            </a:r>
            <a:endParaRPr lang="en-US" sz="5850" dirty="0"/>
          </a:p>
        </p:txBody>
      </p:sp>
      <p:sp>
        <p:nvSpPr>
          <p:cNvPr id="11" name="Text 8"/>
          <p:cNvSpPr/>
          <p:nvPr/>
        </p:nvSpPr>
        <p:spPr>
          <a:xfrm>
            <a:off x="7563326" y="565844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Faster Resolution</a:t>
            </a:r>
            <a:endParaRPr lang="en-US" sz="2200" dirty="0"/>
          </a:p>
        </p:txBody>
      </p:sp>
      <p:sp>
        <p:nvSpPr>
          <p:cNvPr id="12" name="Text 9"/>
          <p:cNvSpPr/>
          <p:nvPr/>
        </p:nvSpPr>
        <p:spPr>
          <a:xfrm>
            <a:off x="7456884" y="6148864"/>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Decrease in medication access delays for patients</a:t>
            </a:r>
            <a:endParaRPr lang="en-US" sz="1750" dirty="0"/>
          </a:p>
        </p:txBody>
      </p:sp>
      <p:sp>
        <p:nvSpPr>
          <p:cNvPr id="13" name="Text 10"/>
          <p:cNvSpPr/>
          <p:nvPr/>
        </p:nvSpPr>
        <p:spPr>
          <a:xfrm>
            <a:off x="10788491" y="4626650"/>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100%</a:t>
            </a:r>
            <a:endParaRPr lang="en-US" sz="5850" dirty="0"/>
          </a:p>
        </p:txBody>
      </p:sp>
      <p:sp>
        <p:nvSpPr>
          <p:cNvPr id="14" name="Text 11"/>
          <p:cNvSpPr/>
          <p:nvPr/>
        </p:nvSpPr>
        <p:spPr>
          <a:xfrm>
            <a:off x="10894933" y="565844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Compliance</a:t>
            </a:r>
            <a:endParaRPr lang="en-US" sz="2200" dirty="0"/>
          </a:p>
        </p:txBody>
      </p:sp>
      <p:sp>
        <p:nvSpPr>
          <p:cNvPr id="15" name="Text 12"/>
          <p:cNvSpPr/>
          <p:nvPr/>
        </p:nvSpPr>
        <p:spPr>
          <a:xfrm>
            <a:off x="10788491" y="6148864"/>
            <a:ext cx="3048119" cy="1451610"/>
          </a:xfrm>
          <a:prstGeom prst="rect">
            <a:avLst/>
          </a:prstGeom>
          <a:noFill/>
          <a:ln/>
        </p:spPr>
        <p:txBody>
          <a:bodyPr wrap="square" lIns="0" tIns="0" rIns="0" bIns="0" rtlCol="0" anchor="t"/>
          <a:lstStyle/>
          <a:p>
            <a:pPr algn="ctr"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HIPAA-compliant audit trails for all communications and actions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717965"/>
            <a:ext cx="6558201"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Restoring Clinical Focus</a:t>
            </a:r>
            <a:endParaRPr lang="en-US" sz="4450" dirty="0"/>
          </a:p>
        </p:txBody>
      </p:sp>
      <p:sp>
        <p:nvSpPr>
          <p:cNvPr id="4" name="Text 1"/>
          <p:cNvSpPr/>
          <p:nvPr/>
        </p:nvSpPr>
        <p:spPr>
          <a:xfrm>
            <a:off x="1133951" y="5022056"/>
            <a:ext cx="12702659" cy="725805"/>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Clinicians Unchained restores clinician focus to patient care by eliminating administrative friction and automating prescription resolution workflows.</a:t>
            </a:r>
            <a:endParaRPr lang="en-US" sz="1750" dirty="0"/>
          </a:p>
        </p:txBody>
      </p:sp>
      <p:sp>
        <p:nvSpPr>
          <p:cNvPr id="5" name="Shape 2"/>
          <p:cNvSpPr/>
          <p:nvPr/>
        </p:nvSpPr>
        <p:spPr>
          <a:xfrm>
            <a:off x="793790" y="4766905"/>
            <a:ext cx="30480" cy="1236107"/>
          </a:xfrm>
          <a:prstGeom prst="rect">
            <a:avLst/>
          </a:prstGeom>
          <a:solidFill>
            <a:srgbClr val="9C9283"/>
          </a:solidFill>
          <a:ln/>
        </p:spPr>
      </p:sp>
      <p:sp>
        <p:nvSpPr>
          <p:cNvPr id="6" name="Text 3"/>
          <p:cNvSpPr/>
          <p:nvPr/>
        </p:nvSpPr>
        <p:spPr>
          <a:xfrm>
            <a:off x="793790" y="6258163"/>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This project represents a major step toward autonomous healthcare operations and sustainable clinical practice. By removing repetitive administrative tasks, we empower clinicians to dedicate their expertise where it matters most: direct patient care and clinical decision-making.</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2026-02-07T03:40:59Z</dcterms:created>
  <dcterms:modified xsi:type="dcterms:W3CDTF">2026-02-07T03:40:59Z</dcterms:modified>
</cp:coreProperties>
</file>